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B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920240"/>
            <a:ext cx="9144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SAKINA</a:t>
            </a:r>
            <a:endParaRPr lang="en-US" sz="6000" dirty="0"/>
          </a:p>
        </p:txBody>
      </p:sp>
      <p:sp>
        <p:nvSpPr>
          <p:cNvPr id="3" name="Text 1"/>
          <p:cNvSpPr/>
          <p:nvPr/>
        </p:nvSpPr>
        <p:spPr>
          <a:xfrm>
            <a:off x="868680" y="306324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FC9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Situational Awareness for Kinetic crowd Intelligence &amp; Network Adaptation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868680" y="352044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FB0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Arabic sakīna (سَكِينَة): tranquility, stillness — the state pilgrims seek.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868680" y="4160520"/>
            <a:ext cx="2926080" cy="0"/>
          </a:xfrm>
          <a:prstGeom prst="line">
            <a:avLst/>
          </a:prstGeom>
          <a:noFill/>
          <a:ln w="19050">
            <a:solidFill>
              <a:srgbClr val="C7922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4389120"/>
            <a:ext cx="8961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EDEF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AI agent that reads live telecom network signals to detect crowd-crush risk</a:t>
            </a:r>
            <a:endParaRPr lang="en-US" sz="15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EDEF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mass gatherings, and elevates emergency responder bandwidth — but only for</a:t>
            </a:r>
            <a:endParaRPr lang="en-US" sz="15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EDEF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responders whose identity the network can vouch for.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68680" y="5806440"/>
            <a:ext cx="9601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GSMA MENA IGNITE HACKATHON  ·  THEME 3 — TOURISM, PILGRIMAGE &amp; CULTURAL EXPERIENCE INNOVATION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868680" y="6172200"/>
            <a:ext cx="9601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FB0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SAKINA  ·  MhmoodHmmam  ·  Idea Phase submission, 20 Aug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F6E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Crowd density is invisible — until it is already lethal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3200400" cy="2286000"/>
          </a:xfrm>
          <a:prstGeom prst="rect">
            <a:avLst/>
          </a:prstGeom>
          <a:solidFill>
            <a:srgbClr val="0F1B2D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965960"/>
            <a:ext cx="3200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C792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2,000+</a:t>
            </a:r>
            <a:endParaRPr lang="en-US" sz="5400" dirty="0"/>
          </a:p>
        </p:txBody>
      </p:sp>
      <p:sp>
        <p:nvSpPr>
          <p:cNvPr id="6" name="Text 4"/>
          <p:cNvSpPr/>
          <p:nvPr/>
        </p:nvSpPr>
        <p:spPr>
          <a:xfrm>
            <a:off x="777240" y="297180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EDEF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pilgrims killed in the 2015</a:t>
            </a:r>
            <a:endParaRPr lang="en-US" sz="13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EDEF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Mina crush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114800" y="1783080"/>
            <a:ext cx="7498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Hajj concentrates roughly </a:t>
            </a:r>
            <a:pPr indent="0" marL="0">
              <a:lnSpc>
                <a:spcPct val="130000"/>
              </a:lnSpc>
              <a:buNone/>
            </a:pPr>
            <a:r>
              <a:rPr lang="en-US" sz="1500" b="1" dirty="0">
                <a:solidFill>
                  <a:srgbClr val="0F6E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million people</a:t>
            </a:r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into a few square kilometres of Mina. There is no dense sensor grid over the site, and installing one is a multi-year civil project.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114800" y="3154680"/>
            <a:ext cx="7498080" cy="1005840"/>
          </a:xfrm>
          <a:prstGeom prst="rect">
            <a:avLst/>
          </a:prstGeom>
          <a:solidFill>
            <a:srgbClr val="EEF1F4"/>
          </a:solidFill>
          <a:ln/>
        </p:spPr>
      </p:sp>
      <p:sp>
        <p:nvSpPr>
          <p:cNvPr id="9" name="Text 7"/>
          <p:cNvSpPr/>
          <p:nvPr/>
        </p:nvSpPr>
        <p:spPr>
          <a:xfrm>
            <a:off x="4343400" y="3273552"/>
            <a:ext cx="7040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3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compounding failure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343400" y="3584448"/>
            <a:ext cx="7040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density spikes, the cellular network degrades — at exactly the moment responders most need connectivity. Congestion is simultaneously the symptom of the danger and the obstacle to responding to it.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4114800" y="4343400"/>
            <a:ext cx="7498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b="1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But every pilgrim already carries a handset </a:t>
            </a:r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and the network already knows something about all of them. That signal already exists; nobody is reading it as a safety instrument.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136873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F6E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INSIGHT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congestion reading is evidence — not a fact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28016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CAMARA Congestion Insights returns a confidenceLevel (0–100) with every reading. That single field is the whole project.</a:t>
            </a:r>
            <a:endParaRPr lang="en-US" sz="14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920240"/>
          <a:ext cx="5486400" cy="2103120"/>
        </p:xfrm>
        <a:graphic>
          <a:graphicData uri="http://schemas.openxmlformats.org/drawingml/2006/table">
            <a:tbl>
              <a:tblPr/>
              <a:tblGrid>
                <a:gridCol w="1188720"/>
                <a:gridCol w="1554480"/>
                <a:gridCol w="1463040"/>
                <a:gridCol w="1280160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Time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Congestion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Confidence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Read as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620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13:33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620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High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620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71%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620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substantial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620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13:38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620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Medium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620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16%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620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near-worthless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620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13:43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620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High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620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51%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620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weak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620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13:48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620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Low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620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97%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620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decisive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6309360" y="1920240"/>
            <a:ext cx="5349240" cy="960120"/>
          </a:xfrm>
          <a:prstGeom prst="rect">
            <a:avLst/>
          </a:prstGeom>
          <a:solidFill>
            <a:srgbClr val="EEF1F4"/>
          </a:solidFill>
          <a:ln/>
        </p:spPr>
      </p:sp>
      <p:sp>
        <p:nvSpPr>
          <p:cNvPr id="7" name="Text 4"/>
          <p:cNvSpPr/>
          <p:nvPr/>
        </p:nvSpPr>
        <p:spPr>
          <a:xfrm>
            <a:off x="6537960" y="2029968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i="1" dirty="0">
                <a:solidFill>
                  <a:srgbClr val="B23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threshold engine reads the latest bucket — Low — and stands down.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6309360" y="3063240"/>
            <a:ext cx="5349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But is that dispersal, or did telemetry merely improve while the crowd stayed?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Answering that is not expressible as an if-statement — it requires weighing a confidence trend against corroborating signals that may disagree.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548640" y="4206240"/>
            <a:ext cx="11109960" cy="1691640"/>
          </a:xfrm>
          <a:prstGeom prst="rect">
            <a:avLst/>
          </a:prstGeom>
          <a:solidFill>
            <a:srgbClr val="0F1B2D"/>
          </a:solidFill>
          <a:ln/>
        </p:spPr>
      </p:sp>
      <p:sp>
        <p:nvSpPr>
          <p:cNvPr id="10" name="Text 7"/>
          <p:cNvSpPr/>
          <p:nvPr/>
        </p:nvSpPr>
        <p:spPr>
          <a:xfrm>
            <a:off x="822960" y="434340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FB0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this window SAKINA computes: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822960" y="466344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FC9B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1.11</a:t>
            </a:r>
            <a:endParaRPr lang="en-US" sz="2600" dirty="0"/>
          </a:p>
        </p:txBody>
      </p:sp>
      <p:sp>
        <p:nvSpPr>
          <p:cNvPr id="12" name="Text 9"/>
          <p:cNvSpPr/>
          <p:nvPr/>
        </p:nvSpPr>
        <p:spPr>
          <a:xfrm>
            <a:off x="822960" y="525780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EDEF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confidence-weighted mean</a:t>
            </a: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EDEF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(naive mean 1.25)</a:t>
            </a:r>
            <a:endParaRPr lang="en-US" sz="1150" dirty="0"/>
          </a:p>
        </p:txBody>
      </p:sp>
      <p:sp>
        <p:nvSpPr>
          <p:cNvPr id="13" name="Text 10"/>
          <p:cNvSpPr/>
          <p:nvPr/>
        </p:nvSpPr>
        <p:spPr>
          <a:xfrm>
            <a:off x="3474720" y="466344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FC9B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1.33/2.0</a:t>
            </a:r>
            <a:endParaRPr lang="en-US" sz="2600" dirty="0"/>
          </a:p>
        </p:txBody>
      </p:sp>
      <p:sp>
        <p:nvSpPr>
          <p:cNvPr id="14" name="Text 11"/>
          <p:cNvSpPr/>
          <p:nvPr/>
        </p:nvSpPr>
        <p:spPr>
          <a:xfrm>
            <a:off x="3474720" y="525780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EDEF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volatility — the cell is</a:t>
            </a: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EDEF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settled</a:t>
            </a:r>
            <a:endParaRPr lang="en-US" sz="1150" dirty="0"/>
          </a:p>
        </p:txBody>
      </p:sp>
      <p:sp>
        <p:nvSpPr>
          <p:cNvPr id="15" name="Text 12"/>
          <p:cNvSpPr/>
          <p:nvPr/>
        </p:nvSpPr>
        <p:spPr>
          <a:xfrm>
            <a:off x="6126480" y="466344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FC9B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improving</a:t>
            </a:r>
            <a:endParaRPr lang="en-US" sz="2600" dirty="0"/>
          </a:p>
        </p:txBody>
      </p:sp>
      <p:sp>
        <p:nvSpPr>
          <p:cNvPr id="16" name="Text 13"/>
          <p:cNvSpPr/>
          <p:nvPr/>
        </p:nvSpPr>
        <p:spPr>
          <a:xfrm>
            <a:off x="6126480" y="525780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EDEF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confidence trend</a:t>
            </a: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EDEF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(71% → 97%)</a:t>
            </a:r>
            <a:endParaRPr lang="en-US" sz="1150" dirty="0"/>
          </a:p>
        </p:txBody>
      </p:sp>
      <p:sp>
        <p:nvSpPr>
          <p:cNvPr id="17" name="Text 14"/>
          <p:cNvSpPr/>
          <p:nvPr/>
        </p:nvSpPr>
        <p:spPr>
          <a:xfrm>
            <a:off x="8778240" y="466344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FC9B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2600" dirty="0"/>
          </a:p>
        </p:txBody>
      </p:sp>
      <p:sp>
        <p:nvSpPr>
          <p:cNvPr id="18" name="Text 15"/>
          <p:cNvSpPr/>
          <p:nvPr/>
        </p:nvSpPr>
        <p:spPr>
          <a:xfrm>
            <a:off x="8778240" y="525780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EDEF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devices on SMS-only</a:t>
            </a: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EDEF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fallback</a:t>
            </a:r>
            <a:endParaRPr lang="en-US" sz="1150" dirty="0"/>
          </a:p>
        </p:txBody>
      </p:sp>
      <p:sp>
        <p:nvSpPr>
          <p:cNvPr id="19" name="Text 16"/>
          <p:cNvSpPr/>
          <p:nvPr/>
        </p:nvSpPr>
        <p:spPr>
          <a:xfrm>
            <a:off x="822960" y="5760720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C79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 SMS-only contradicts the reassuring “Low” reading. SAKINA surfaces the contradiction rather than resolving it away.</a:t>
            </a:r>
            <a:endParaRPr lang="en-US" sz="1150" dirty="0"/>
          </a:p>
        </p:txBody>
      </p:sp>
      <p:sp>
        <p:nvSpPr>
          <p:cNvPr id="20" name="Text 17"/>
          <p:cNvSpPr/>
          <p:nvPr/>
        </p:nvSpPr>
        <p:spPr>
          <a:xfrm>
            <a:off x="1136873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F6E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NEEDS AN AGENT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62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Same evidence, three readers — verified live, not claimed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128016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exact playground window from the previous slide, run through three levels of reasoning.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1783080"/>
            <a:ext cx="3611880" cy="4434840"/>
          </a:xfrm>
          <a:prstGeom prst="rect">
            <a:avLst/>
          </a:prstGeom>
          <a:solidFill>
            <a:srgbClr val="EEF1F4"/>
          </a:solidFill>
          <a:ln w="12700">
            <a:solidFill>
              <a:srgbClr val="B23A2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965960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Naive threshold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77240" y="2313432"/>
            <a:ext cx="3154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reads only the latest bucket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777240" y="2697480"/>
            <a:ext cx="3154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B23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“Low”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777240" y="3319272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 down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777240" y="3657600"/>
            <a:ext cx="3154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Sees 97% confidence on the newest reading and concludes the zone is safe. Ignores the volatile 71/16/51 readings before it and the SMS-only saturation entirely.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777240" y="5623560"/>
            <a:ext cx="3154680" cy="0"/>
          </a:xfrm>
          <a:prstGeom prst="line">
            <a:avLst/>
          </a:prstGeom>
          <a:noFill/>
          <a:ln w="6350">
            <a:solidFill>
              <a:srgbClr val="5B6B7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77240" y="5715000"/>
            <a:ext cx="3154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B23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 — would stand down during data-plane saturation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297680" y="1783080"/>
            <a:ext cx="3611880" cy="4434840"/>
          </a:xfrm>
          <a:prstGeom prst="rect">
            <a:avLst/>
          </a:prstGeom>
          <a:solidFill>
            <a:srgbClr val="EEF1F4"/>
          </a:solidFill>
          <a:ln w="12700">
            <a:solidFill>
              <a:srgbClr val="7A5A1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26280" y="1965960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Heuristic arithmetic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4526280" y="2313432"/>
            <a:ext cx="3154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brain.py deterministic fallback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4526280" y="2697480"/>
            <a:ext cx="3154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7A5A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0.69</a:t>
            </a:r>
            <a:endParaRPr lang="en-US" sz="3400" dirty="0"/>
          </a:p>
        </p:txBody>
      </p:sp>
      <p:sp>
        <p:nvSpPr>
          <p:cNvPr id="17" name="Text 15"/>
          <p:cNvSpPr/>
          <p:nvPr/>
        </p:nvSpPr>
        <p:spPr>
          <a:xfrm>
            <a:off x="4526280" y="3319272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score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4526280" y="3657600"/>
            <a:ext cx="3154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Confidence-weighted mean correctly discounts the 16% reading. Gets partway there — but its own output says it plainly: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526280" y="4480560"/>
            <a:ext cx="3154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i="1" dirty="0">
                <a:solidFill>
                  <a:srgbClr val="7A5A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“This is threshold arithmetic only: it cannot distinguish genuine dispersal from telemetry loss.”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526280" y="5623560"/>
            <a:ext cx="3154680" cy="0"/>
          </a:xfrm>
          <a:prstGeom prst="line">
            <a:avLst/>
          </a:prstGeom>
          <a:noFill/>
          <a:ln w="6350">
            <a:solidFill>
              <a:srgbClr val="5B6B7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526280" y="5715000"/>
            <a:ext cx="3154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7A5A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PARTIAL — elevated score, zero explanation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8046720" y="1783080"/>
            <a:ext cx="3611880" cy="4434840"/>
          </a:xfrm>
          <a:prstGeom prst="rect">
            <a:avLst/>
          </a:prstGeom>
          <a:solidFill>
            <a:srgbClr val="0F1B2D"/>
          </a:solidFill>
          <a:ln w="12700">
            <a:solidFill>
              <a:srgbClr val="0F6E5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275320" y="1965960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SAKINA agent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8275320" y="2313432"/>
            <a:ext cx="3154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9FB0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Gemini call, same evidence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8275320" y="2697480"/>
            <a:ext cx="3154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FC9B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0.95</a:t>
            </a:r>
            <a:endParaRPr lang="en-US" sz="3400" dirty="0"/>
          </a:p>
        </p:txBody>
      </p:sp>
      <p:sp>
        <p:nvSpPr>
          <p:cNvPr id="26" name="Text 24"/>
          <p:cNvSpPr/>
          <p:nvPr/>
        </p:nvSpPr>
        <p:spPr>
          <a:xfrm>
            <a:off x="8275320" y="3319272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FB0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confidence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8275320" y="3657600"/>
            <a:ext cx="3154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EDEF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Names the deciding signal explicitly: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8275320" y="4480560"/>
            <a:ext cx="3154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i="1" dirty="0">
                <a:solidFill>
                  <a:srgbClr val="2FC9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“100% SMS-only fallback... confirms extreme density regardless of the congestion metric’s fluctuations.”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8275320" y="5623560"/>
            <a:ext cx="3154680" cy="0"/>
          </a:xfrm>
          <a:prstGeom prst="line">
            <a:avLst/>
          </a:prstGeom>
          <a:noFill/>
          <a:ln w="6350">
            <a:solidFill>
              <a:srgbClr val="9FB0C7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275320" y="5715000"/>
            <a:ext cx="3154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2FC9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RIGHT — correctly refuses to be reassured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1136873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F6E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PROPOSED SOLUTION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62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Seven CAMARA APIs, orchestrated by an agent — not a user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12801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SAKINA treats mobile network congestion as a real-time proxy for crowd density, reasons about how much to trust each reading, and autonomously elevates emergency responder bandwidth when risk is material — but only for responders whose identity the network itself can vouch for.</a:t>
            </a:r>
            <a:endParaRPr lang="en-US" sz="13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148840"/>
          <a:ext cx="6949440" cy="4114800"/>
        </p:xfrm>
        <a:graphic>
          <a:graphicData uri="http://schemas.openxmlformats.org/drawingml/2006/table">
            <a:tbl>
              <a:tblPr/>
              <a:tblGrid>
                <a:gridCol w="2377440"/>
                <a:gridCol w="4572000"/>
              </a:tblGrid>
              <a:tr h="5143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CAMARA API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Role in the agent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Congestion Insights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Primary density proxy — confidence-weighted trend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Location Retrieval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Grounds congestion in geography; fix-quality signal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Location Verification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 this responder actually where they claim?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Device Status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SMS-only fallback corroborates density; roaming for identity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SIM Swap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Identity gate — a recent swap blocks elevation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Quality on Demand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action: elevate verified responders only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Geofencing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Zone-entry event model (subscription API, Stage 3)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7726680" y="2148840"/>
            <a:ext cx="3931920" cy="4114800"/>
          </a:xfrm>
          <a:prstGeom prst="rect">
            <a:avLst/>
          </a:prstGeom>
          <a:solidFill>
            <a:srgbClr val="0F1B2D"/>
          </a:solidFill>
          <a:ln/>
        </p:spPr>
      </p:sp>
      <p:sp>
        <p:nvSpPr>
          <p:cNvPr id="7" name="Text 4"/>
          <p:cNvSpPr/>
          <p:nvPr/>
        </p:nvSpPr>
        <p:spPr>
          <a:xfrm>
            <a:off x="7955280" y="233172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API earns its place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7955280" y="2743200"/>
            <a:ext cx="3474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EDEF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 is decorative — each maps to a specific node in the agent's reasoning graph, verified live against the Nokia Network-as-Code portal.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7955280" y="3657600"/>
            <a:ext cx="3246120" cy="0"/>
          </a:xfrm>
          <a:prstGeom prst="line">
            <a:avLst/>
          </a:prstGeom>
          <a:noFill/>
          <a:ln w="6350">
            <a:solidFill>
              <a:srgbClr val="9FB0C7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955280" y="388620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FC9B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600" dirty="0"/>
          </a:p>
        </p:txBody>
      </p:sp>
      <p:sp>
        <p:nvSpPr>
          <p:cNvPr id="11" name="Text 8"/>
          <p:cNvSpPr/>
          <p:nvPr/>
        </p:nvSpPr>
        <p:spPr>
          <a:xfrm>
            <a:off x="8915400" y="3959352"/>
            <a:ext cx="2606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EDEF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families exercised live end-to-end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7955280" y="457200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FC9B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21</a:t>
            </a:r>
            <a:endParaRPr lang="en-US" sz="2600" dirty="0"/>
          </a:p>
        </p:txBody>
      </p:sp>
      <p:sp>
        <p:nvSpPr>
          <p:cNvPr id="13" name="Text 10"/>
          <p:cNvSpPr/>
          <p:nvPr/>
        </p:nvSpPr>
        <p:spPr>
          <a:xfrm>
            <a:off x="8915400" y="4645152"/>
            <a:ext cx="2606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EDEF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on the confidence-weighting core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7955280" y="525780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FC9B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2600" dirty="0"/>
          </a:p>
        </p:txBody>
      </p:sp>
      <p:sp>
        <p:nvSpPr>
          <p:cNvPr id="15" name="Text 12"/>
          <p:cNvSpPr/>
          <p:nvPr/>
        </p:nvSpPr>
        <p:spPr>
          <a:xfrm>
            <a:off x="8915400" y="5330952"/>
            <a:ext cx="2606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EDEF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keys required in replay mode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1136873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F6E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 DESIGN &amp; ORCHESTRATION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62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LangGraph StateGraph — the conditional edges are the product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1600200" cy="777240"/>
          </a:xfrm>
          <a:prstGeom prst="roundRect">
            <a:avLst>
              <a:gd name="adj" fmla="val 9412"/>
            </a:avLst>
          </a:prstGeom>
          <a:solidFill>
            <a:srgbClr val="0F1B2D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508760"/>
            <a:ext cx="1600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PERCEIVE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94360" y="1828800"/>
            <a:ext cx="1508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gather signals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2514600" y="1417320"/>
            <a:ext cx="1600200" cy="777240"/>
          </a:xfrm>
          <a:prstGeom prst="roundRect">
            <a:avLst>
              <a:gd name="adj" fmla="val 9412"/>
            </a:avLst>
          </a:prstGeom>
          <a:solidFill>
            <a:srgbClr val="0F1B2D"/>
          </a:solidFill>
          <a:ln/>
        </p:spPr>
      </p:sp>
      <p:sp>
        <p:nvSpPr>
          <p:cNvPr id="8" name="Text 6"/>
          <p:cNvSpPr/>
          <p:nvPr/>
        </p:nvSpPr>
        <p:spPr>
          <a:xfrm>
            <a:off x="2514600" y="1508760"/>
            <a:ext cx="1600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ASSESS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2560320" y="1828800"/>
            <a:ext cx="1508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 evidence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5257800" y="1417320"/>
            <a:ext cx="1600200" cy="777240"/>
          </a:xfrm>
          <a:prstGeom prst="roundRect">
            <a:avLst>
              <a:gd name="adj" fmla="val 9412"/>
            </a:avLst>
          </a:prstGeom>
          <a:solidFill>
            <a:srgbClr val="0F1B2D"/>
          </a:solidFill>
          <a:ln/>
        </p:spPr>
      </p:sp>
      <p:sp>
        <p:nvSpPr>
          <p:cNvPr id="11" name="Text 9"/>
          <p:cNvSpPr/>
          <p:nvPr/>
        </p:nvSpPr>
        <p:spPr>
          <a:xfrm>
            <a:off x="5257800" y="1508760"/>
            <a:ext cx="1600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303520" y="1828800"/>
            <a:ext cx="1508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identity-gate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7223760" y="1417320"/>
            <a:ext cx="1600200" cy="777240"/>
          </a:xfrm>
          <a:prstGeom prst="roundRect">
            <a:avLst>
              <a:gd name="adj" fmla="val 9412"/>
            </a:avLst>
          </a:prstGeom>
          <a:solidFill>
            <a:srgbClr val="0F1B2D"/>
          </a:solidFill>
          <a:ln/>
        </p:spPr>
      </p:sp>
      <p:sp>
        <p:nvSpPr>
          <p:cNvPr id="14" name="Text 12"/>
          <p:cNvSpPr/>
          <p:nvPr/>
        </p:nvSpPr>
        <p:spPr>
          <a:xfrm>
            <a:off x="7223760" y="1508760"/>
            <a:ext cx="1600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DECIDE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7269480" y="1828800"/>
            <a:ext cx="1508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 elevation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9966960" y="1417320"/>
            <a:ext cx="1600200" cy="777240"/>
          </a:xfrm>
          <a:prstGeom prst="roundRect">
            <a:avLst>
              <a:gd name="adj" fmla="val 9412"/>
            </a:avLst>
          </a:prstGeom>
          <a:solidFill>
            <a:srgbClr val="0F1B2D"/>
          </a:solidFill>
          <a:ln/>
        </p:spPr>
      </p:sp>
      <p:sp>
        <p:nvSpPr>
          <p:cNvPr id="17" name="Text 15"/>
          <p:cNvSpPr/>
          <p:nvPr/>
        </p:nvSpPr>
        <p:spPr>
          <a:xfrm>
            <a:off x="9966960" y="1508760"/>
            <a:ext cx="1600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0012680" y="1828800"/>
            <a:ext cx="1508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elevate QoD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760720" y="4206240"/>
            <a:ext cx="1600200" cy="777240"/>
          </a:xfrm>
          <a:prstGeom prst="roundRect">
            <a:avLst>
              <a:gd name="adj" fmla="val 9412"/>
            </a:avLst>
          </a:prstGeom>
          <a:solidFill>
            <a:srgbClr val="7A5A1C"/>
          </a:solidFill>
          <a:ln/>
        </p:spPr>
      </p:sp>
      <p:sp>
        <p:nvSpPr>
          <p:cNvPr id="20" name="Text 18"/>
          <p:cNvSpPr/>
          <p:nvPr/>
        </p:nvSpPr>
        <p:spPr>
          <a:xfrm>
            <a:off x="5760720" y="4297680"/>
            <a:ext cx="1600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6440" y="4617720"/>
            <a:ext cx="1508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 + next poll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2148840" y="1805940"/>
            <a:ext cx="365760" cy="0"/>
          </a:xfrm>
          <a:prstGeom prst="line">
            <a:avLst/>
          </a:prstGeom>
          <a:noFill/>
          <a:ln w="15875">
            <a:solidFill>
              <a:srgbClr val="5B6B7A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6858000" y="1805940"/>
            <a:ext cx="365760" cy="0"/>
          </a:xfrm>
          <a:prstGeom prst="line">
            <a:avLst/>
          </a:prstGeom>
          <a:noFill/>
          <a:ln w="15875">
            <a:solidFill>
              <a:srgbClr val="5B6B7A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4114800" y="1805940"/>
            <a:ext cx="1143000" cy="0"/>
          </a:xfrm>
          <a:prstGeom prst="line">
            <a:avLst/>
          </a:prstGeom>
          <a:noFill/>
          <a:ln w="15875">
            <a:solidFill>
              <a:srgbClr val="5B6B7A"/>
            </a:solidFill>
            <a:prstDash val="dash"/>
            <a:tailEnd type="triangle"/>
          </a:ln>
        </p:spPr>
      </p:sp>
      <p:sp>
        <p:nvSpPr>
          <p:cNvPr id="25" name="Text 23"/>
          <p:cNvSpPr/>
          <p:nvPr/>
        </p:nvSpPr>
        <p:spPr>
          <a:xfrm>
            <a:off x="4160520" y="130302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i="1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≥ 0.55 or escalate flag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8823960" y="1805940"/>
            <a:ext cx="1143000" cy="0"/>
          </a:xfrm>
          <a:prstGeom prst="line">
            <a:avLst/>
          </a:prstGeom>
          <a:noFill/>
          <a:ln w="15875">
            <a:solidFill>
              <a:srgbClr val="5B6B7A"/>
            </a:solidFill>
            <a:prstDash val="dash"/>
            <a:tailEnd type="triangle"/>
          </a:ln>
        </p:spPr>
      </p:sp>
      <p:sp>
        <p:nvSpPr>
          <p:cNvPr id="27" name="Text 25"/>
          <p:cNvSpPr/>
          <p:nvPr/>
        </p:nvSpPr>
        <p:spPr>
          <a:xfrm>
            <a:off x="8869680" y="1303020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i="1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≥ 0.70 &amp; cleared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7178040" y="2194560"/>
            <a:ext cx="3589020" cy="0"/>
          </a:xfrm>
          <a:prstGeom prst="line">
            <a:avLst/>
          </a:prstGeom>
          <a:noFill/>
          <a:ln w="15875">
            <a:solidFill>
              <a:srgbClr val="5B6B7A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178040" y="2194560"/>
            <a:ext cx="0" cy="2011680"/>
          </a:xfrm>
          <a:prstGeom prst="line">
            <a:avLst/>
          </a:prstGeom>
          <a:noFill/>
          <a:ln w="15875">
            <a:solidFill>
              <a:srgbClr val="5B6B7A"/>
            </a:solidFill>
            <a:prstDash val="solid"/>
            <a:tailEnd type="triangle"/>
          </a:ln>
        </p:spPr>
      </p:sp>
      <p:sp>
        <p:nvSpPr>
          <p:cNvPr id="30" name="Shape 28"/>
          <p:cNvSpPr/>
          <p:nvPr/>
        </p:nvSpPr>
        <p:spPr>
          <a:xfrm>
            <a:off x="3314700" y="2194560"/>
            <a:ext cx="2628900" cy="0"/>
          </a:xfrm>
          <a:prstGeom prst="line">
            <a:avLst/>
          </a:prstGeom>
          <a:noFill/>
          <a:ln w="15875">
            <a:solidFill>
              <a:srgbClr val="5B6B7A"/>
            </a:solidFill>
            <a:prstDash val="dash"/>
          </a:ln>
        </p:spPr>
      </p:sp>
      <p:sp>
        <p:nvSpPr>
          <p:cNvPr id="31" name="Shape 29"/>
          <p:cNvSpPr/>
          <p:nvPr/>
        </p:nvSpPr>
        <p:spPr>
          <a:xfrm>
            <a:off x="5943600" y="2194560"/>
            <a:ext cx="0" cy="2011680"/>
          </a:xfrm>
          <a:prstGeom prst="line">
            <a:avLst/>
          </a:prstGeom>
          <a:noFill/>
          <a:ln w="15875">
            <a:solidFill>
              <a:srgbClr val="5B6B7A"/>
            </a:solidFill>
            <a:prstDash val="dash"/>
            <a:tailEnd type="triangle"/>
          </a:ln>
        </p:spPr>
      </p:sp>
      <p:sp>
        <p:nvSpPr>
          <p:cNvPr id="32" name="Text 30"/>
          <p:cNvSpPr/>
          <p:nvPr/>
        </p:nvSpPr>
        <p:spPr>
          <a:xfrm>
            <a:off x="2606040" y="26974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low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6537960" y="2194560"/>
            <a:ext cx="1485900" cy="0"/>
          </a:xfrm>
          <a:prstGeom prst="line">
            <a:avLst/>
          </a:prstGeom>
          <a:noFill/>
          <a:ln w="15875">
            <a:solidFill>
              <a:srgbClr val="5B6B7A"/>
            </a:solidFill>
            <a:prstDash val="dash"/>
          </a:ln>
        </p:spPr>
      </p:sp>
      <p:sp>
        <p:nvSpPr>
          <p:cNvPr id="34" name="Shape 32"/>
          <p:cNvSpPr/>
          <p:nvPr/>
        </p:nvSpPr>
        <p:spPr>
          <a:xfrm>
            <a:off x="6537960" y="2194560"/>
            <a:ext cx="0" cy="2011680"/>
          </a:xfrm>
          <a:prstGeom prst="line">
            <a:avLst/>
          </a:prstGeom>
          <a:noFill/>
          <a:ln w="15875">
            <a:solidFill>
              <a:srgbClr val="5B6B7A"/>
            </a:solidFill>
            <a:prstDash val="dash"/>
            <a:tailEnd type="triangle"/>
          </a:ln>
        </p:spPr>
      </p:sp>
      <p:sp>
        <p:nvSpPr>
          <p:cNvPr id="35" name="Text 33"/>
          <p:cNvSpPr/>
          <p:nvPr/>
        </p:nvSpPr>
        <p:spPr>
          <a:xfrm>
            <a:off x="7726680" y="269748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548640" y="521208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here is a button the operator presses. agent.py::_after_assess / _after_decide choose the edge at run time.</a:t>
            </a:r>
            <a:endParaRPr lang="en-US" sz="1150" dirty="0"/>
          </a:p>
        </p:txBody>
      </p:sp>
      <p:sp>
        <p:nvSpPr>
          <p:cNvPr id="37" name="Shape 35"/>
          <p:cNvSpPr/>
          <p:nvPr/>
        </p:nvSpPr>
        <p:spPr>
          <a:xfrm>
            <a:off x="548640" y="5715000"/>
            <a:ext cx="2148840" cy="685800"/>
          </a:xfrm>
          <a:prstGeom prst="rect">
            <a:avLst/>
          </a:prstGeom>
          <a:solidFill>
            <a:srgbClr val="EEF1F4"/>
          </a:solidFill>
          <a:ln w="6350">
            <a:solidFill>
              <a:srgbClr val="D8DEE4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40080" y="5769864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Orchestration</a:t>
            </a:r>
            <a:endParaRPr lang="en-US" sz="950" dirty="0"/>
          </a:p>
        </p:txBody>
      </p:sp>
      <p:sp>
        <p:nvSpPr>
          <p:cNvPr id="39" name="Text 37"/>
          <p:cNvSpPr/>
          <p:nvPr/>
        </p:nvSpPr>
        <p:spPr>
          <a:xfrm>
            <a:off x="640080" y="6016752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6E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LangGraph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2788920" y="5715000"/>
            <a:ext cx="2148840" cy="685800"/>
          </a:xfrm>
          <a:prstGeom prst="rect">
            <a:avLst/>
          </a:prstGeom>
          <a:solidFill>
            <a:srgbClr val="EEF1F4"/>
          </a:solidFill>
          <a:ln w="6350">
            <a:solidFill>
              <a:srgbClr val="D8DEE4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880360" y="5769864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Reasoning</a:t>
            </a:r>
            <a:endParaRPr lang="en-US" sz="950" dirty="0"/>
          </a:p>
        </p:txBody>
      </p:sp>
      <p:sp>
        <p:nvSpPr>
          <p:cNvPr id="42" name="Text 40"/>
          <p:cNvSpPr/>
          <p:nvPr/>
        </p:nvSpPr>
        <p:spPr>
          <a:xfrm>
            <a:off x="2880360" y="6016752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6E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 (flash-lite)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5029200" y="5715000"/>
            <a:ext cx="2148840" cy="685800"/>
          </a:xfrm>
          <a:prstGeom prst="rect">
            <a:avLst/>
          </a:prstGeom>
          <a:solidFill>
            <a:srgbClr val="EEF1F4"/>
          </a:solidFill>
          <a:ln w="6350">
            <a:solidFill>
              <a:srgbClr val="D8DEE4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120640" y="5769864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Fallback</a:t>
            </a:r>
            <a:endParaRPr lang="en-US" sz="950" dirty="0"/>
          </a:p>
        </p:txBody>
      </p:sp>
      <p:sp>
        <p:nvSpPr>
          <p:cNvPr id="45" name="Text 43"/>
          <p:cNvSpPr/>
          <p:nvPr/>
        </p:nvSpPr>
        <p:spPr>
          <a:xfrm>
            <a:off x="5120640" y="6016752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6E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Groq Llama 3.3 70B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7269480" y="5715000"/>
            <a:ext cx="2148840" cy="685800"/>
          </a:xfrm>
          <a:prstGeom prst="rect">
            <a:avLst/>
          </a:prstGeom>
          <a:solidFill>
            <a:srgbClr val="EEF1F4"/>
          </a:solidFill>
          <a:ln w="6350">
            <a:solidFill>
              <a:srgbClr val="D8DEE4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360920" y="5769864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</a:t>
            </a:r>
            <a:endParaRPr lang="en-US" sz="950" dirty="0"/>
          </a:p>
        </p:txBody>
      </p:sp>
      <p:sp>
        <p:nvSpPr>
          <p:cNvPr id="48" name="Text 46"/>
          <p:cNvSpPr/>
          <p:nvPr/>
        </p:nvSpPr>
        <p:spPr>
          <a:xfrm>
            <a:off x="7360920" y="6016752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6E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Streamlit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9509760" y="5715000"/>
            <a:ext cx="2148840" cy="685800"/>
          </a:xfrm>
          <a:prstGeom prst="rect">
            <a:avLst/>
          </a:prstGeom>
          <a:solidFill>
            <a:srgbClr val="EEF1F4"/>
          </a:solidFill>
          <a:ln w="6350">
            <a:solidFill>
              <a:srgbClr val="D8DEE4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9601200" y="5769864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</a:t>
            </a:r>
            <a:endParaRPr lang="en-US" sz="950" dirty="0"/>
          </a:p>
        </p:txBody>
      </p:sp>
      <p:sp>
        <p:nvSpPr>
          <p:cNvPr id="51" name="Text 49"/>
          <p:cNvSpPr/>
          <p:nvPr/>
        </p:nvSpPr>
        <p:spPr>
          <a:xfrm>
            <a:off x="9601200" y="6016752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6E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Nokia Network-as-Code</a:t>
            </a:r>
            <a:endParaRPr lang="en-US" sz="1200" dirty="0"/>
          </a:p>
        </p:txBody>
      </p:sp>
      <p:sp>
        <p:nvSpPr>
          <p:cNvPr id="52" name="Text 50"/>
          <p:cNvSpPr/>
          <p:nvPr/>
        </p:nvSpPr>
        <p:spPr>
          <a:xfrm>
            <a:off x="548640" y="644652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from the hackathon's AI Resource &amp; Tooling Guide — no tooling outside it in the agent layer.</a:t>
            </a:r>
            <a:endParaRPr lang="en-US" sz="1000" dirty="0"/>
          </a:p>
        </p:txBody>
      </p:sp>
      <p:sp>
        <p:nvSpPr>
          <p:cNvPr id="53" name="Text 51"/>
          <p:cNvSpPr/>
          <p:nvPr/>
        </p:nvSpPr>
        <p:spPr>
          <a:xfrm>
            <a:off x="1136873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F6E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RELIABILITY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62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Graceful degradation — verified deliberately, not observed by accident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3611880" cy="2103120"/>
          </a:xfrm>
          <a:prstGeom prst="rect">
            <a:avLst/>
          </a:prstGeom>
          <a:solidFill>
            <a:srgbClr val="EEF1F4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1645920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6E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fallback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777240" y="2057400"/>
            <a:ext cx="31546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 unreachable or rate-limited → Groq Llama 3.3 70B. Both unreachable → deterministic heuristic, clearly labelled inferior in the trace.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297680" y="1463040"/>
            <a:ext cx="3611880" cy="2103120"/>
          </a:xfrm>
          <a:prstGeom prst="rect">
            <a:avLst/>
          </a:prstGeom>
          <a:solidFill>
            <a:srgbClr val="EEF1F4"/>
          </a:solidFill>
          <a:ln/>
        </p:spPr>
      </p:sp>
      <p:sp>
        <p:nvSpPr>
          <p:cNvPr id="8" name="Text 6"/>
          <p:cNvSpPr/>
          <p:nvPr/>
        </p:nvSpPr>
        <p:spPr>
          <a:xfrm>
            <a:off x="4526280" y="1645920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6E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fallback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26280" y="2057400"/>
            <a:ext cx="31546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 mode serves a recorded fixture when a live CAMARA call fails — and says so in the trace. Cached data is never disguised as live.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8046720" y="1463040"/>
            <a:ext cx="3611880" cy="2103120"/>
          </a:xfrm>
          <a:prstGeom prst="rect">
            <a:avLst/>
          </a:prstGeom>
          <a:solidFill>
            <a:srgbClr val="EEF1F4"/>
          </a:solidFill>
          <a:ln/>
        </p:spPr>
      </p:sp>
      <p:sp>
        <p:nvSpPr>
          <p:cNvPr id="11" name="Text 9"/>
          <p:cNvSpPr/>
          <p:nvPr/>
        </p:nvSpPr>
        <p:spPr>
          <a:xfrm>
            <a:off x="8275320" y="1645920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6E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 closed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275320" y="2057400"/>
            <a:ext cx="31546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model reachable means no QoD elevation. Refusing a medic is recoverable; handing an impersonator priority spectrum is not.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48640" y="3794760"/>
            <a:ext cx="11109960" cy="2331720"/>
          </a:xfrm>
          <a:prstGeom prst="rect">
            <a:avLst/>
          </a:prstGeom>
          <a:solidFill>
            <a:srgbClr val="0F1B2D"/>
          </a:solidFill>
          <a:ln/>
        </p:spPr>
      </p:sp>
      <p:sp>
        <p:nvSpPr>
          <p:cNvPr id="14" name="Text 12"/>
          <p:cNvSpPr/>
          <p:nvPr/>
        </p:nvSpPr>
        <p:spPr>
          <a:xfrm>
            <a:off x="822960" y="397764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79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Forced live, 2026-07-17 — real trace output, GEMINI_API_KEY intentionally invalid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22960" y="4343400"/>
            <a:ext cx="1051560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EDEF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⚠ gemini unavailable</a:t>
            </a:r>
            <a:endParaRPr lang="en-US" sz="11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EDEF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ClientError: 400 INVALID_ARGUMENT — API key not valid — trying next provider</a:t>
            </a:r>
            <a:endParaRPr lang="en-US" sz="11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EDEF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🧠 Risk 0.40 (low confidence) · via groq</a:t>
            </a:r>
            <a:endParaRPr lang="en-US" sz="11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EDEF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Crowd density appears to be low, but telemetry confidence is also low...</a:t>
            </a:r>
            <a:endParaRPr lang="en-US" sz="11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EDEF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primary driver: confidence-weighted mean congestion</a:t>
            </a:r>
            <a:endParaRPr lang="en-US" sz="11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EDEF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◆ Continue monitoring — risk 0.40 below escalation floor 0.55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1136873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F6E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SECURITY LAYER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62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Whoever can trigger bandwidth elevation controls it — that's worth attacking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548640" y="128016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elevating any responder, SAKINA checks the network's own view of that handset: SIM Swap, roaming status, Location Verification. Refusing a real medic also costs lives — so this is judgement, not a rule. Roaming alone means nothing; Hajj is the largest roaming event on earth. Three coherent signals mean something.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2331720"/>
            <a:ext cx="5349240" cy="3749040"/>
          </a:xfrm>
          <a:prstGeom prst="rect">
            <a:avLst/>
          </a:prstGeom>
          <a:solidFill>
            <a:srgbClr val="2A1513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2560320"/>
            <a:ext cx="4800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Medic Unit 1 — Alpha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822960" y="2926080"/>
            <a:ext cx="4800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0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+99999991000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22960" y="3383280"/>
            <a:ext cx="4800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DEF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SIM swapped 12 minutes ago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822960" y="3767328"/>
            <a:ext cx="4800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DEF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Roaming on a foreign network (HU)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822960" y="4151376"/>
            <a:ext cx="4800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DEF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Location verification: FALSE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822960" y="4535424"/>
            <a:ext cx="4800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DEF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Reachable, SMS-only — no data session to prioritise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822960" y="5303520"/>
            <a:ext cx="4800600" cy="548640"/>
          </a:xfrm>
          <a:prstGeom prst="rect">
            <a:avLst/>
          </a:prstGeom>
          <a:solidFill>
            <a:srgbClr val="B23A2E"/>
          </a:solidFill>
          <a:ln/>
        </p:spPr>
      </p:sp>
      <p:sp>
        <p:nvSpPr>
          <p:cNvPr id="13" name="Text 11"/>
          <p:cNvSpPr/>
          <p:nvPr/>
        </p:nvSpPr>
        <p:spPr>
          <a:xfrm>
            <a:off x="822960" y="5303520"/>
            <a:ext cx="4800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CEB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REFUSED — plausible impersonation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6263640" y="2331720"/>
            <a:ext cx="5349240" cy="3749040"/>
          </a:xfrm>
          <a:prstGeom prst="rect">
            <a:avLst/>
          </a:prstGeom>
          <a:solidFill>
            <a:srgbClr val="12271D"/>
          </a:solidFill>
          <a:ln/>
        </p:spPr>
      </p:sp>
      <p:sp>
        <p:nvSpPr>
          <p:cNvPr id="15" name="Text 13"/>
          <p:cNvSpPr/>
          <p:nvPr/>
        </p:nvSpPr>
        <p:spPr>
          <a:xfrm>
            <a:off x="6537960" y="2560320"/>
            <a:ext cx="4800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Medic Unit 2 — Bravo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6537960" y="2926080"/>
            <a:ext cx="4800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0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+99999991001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537960" y="3383280"/>
            <a:ext cx="4800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DEF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No SIM swap on record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537960" y="3767328"/>
            <a:ext cx="4800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DEF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Not roaming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6537960" y="4151376"/>
            <a:ext cx="4800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DEF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Location verification: TRUE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6537960" y="4535424"/>
            <a:ext cx="4800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DEF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Data-capable — QoD session created live, session released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6537960" y="5303520"/>
            <a:ext cx="4800600" cy="548640"/>
          </a:xfrm>
          <a:prstGeom prst="rect">
            <a:avLst/>
          </a:prstGeom>
          <a:solidFill>
            <a:srgbClr val="1E8A55"/>
          </a:solidFill>
          <a:ln/>
        </p:spPr>
      </p:sp>
      <p:sp>
        <p:nvSpPr>
          <p:cNvPr id="22" name="Text 20"/>
          <p:cNvSpPr/>
          <p:nvPr/>
        </p:nvSpPr>
        <p:spPr>
          <a:xfrm>
            <a:off x="6537960" y="5303520"/>
            <a:ext cx="4800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AF3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CLEARED — QoD elevated live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136873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F6E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VERIFIED, NOT CLAIMED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62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Live Nokia NaC + live Gemini, five consecutive real cycles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12344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 Phase deliverable is the reasoning, not a polished UI — full operator console and demo video land in the Phase 2 prototype (Sep submission).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11109960" cy="2743200"/>
          </a:xfrm>
          <a:prstGeom prst="rect">
            <a:avLst/>
          </a:prstGeom>
          <a:solidFill>
            <a:srgbClr val="0F1B2D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187452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79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run_cycle.py jamarat-bridge — SAKINA_MODE=live, real trace output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822960" y="2240280"/>
            <a:ext cx="1051560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EDEF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▶ PERCEIVE — congestion_insights.query · location.retrieve · device_status.reachability  [LIVE]</a:t>
            </a:r>
            <a:endParaRPr lang="en-US" sz="11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EDEF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🧠 Signals gathered — 3 CAMARA calls · congestion weighted mean 0.52 (naive 0.80)</a:t>
            </a:r>
            <a:endParaRPr lang="en-US" sz="11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EDEF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▶ ASSESS</a:t>
            </a:r>
            <a:endParaRPr lang="en-US" sz="11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EDEF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🧠 Risk 0.35 (high confidence) · via gemini</a:t>
            </a:r>
            <a:endParaRPr lang="en-US" sz="11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EDEF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Congestion readings trended toward high confidence (99%) at 12:27, confirming the</a:t>
            </a:r>
            <a:endParaRPr lang="en-US" sz="11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EDEF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previous volatility was a telemetry issue rather than a crowd surge. 0% SMS-only,</a:t>
            </a:r>
            <a:endParaRPr lang="en-US" sz="11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EDEF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no stale fixes — the network is operating normally.</a:t>
            </a:r>
            <a:endParaRPr lang="en-US" sz="11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EDEF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◆ Continue monitoring — risk 0.35 below escalation floor 0.55</a:t>
            </a:r>
            <a:endParaRPr lang="en-US" sz="11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EDEF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▶ REPORT — 3 CAMARA calls (3 live, 0 cached) across 3 APIs · next poll in 60s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548640" y="4709160"/>
            <a:ext cx="3611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6E5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5/5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548640" y="5303520"/>
            <a:ext cx="3611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APIs used by the agent verified live (congestion, location, device_status, sim_swap, QoD)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4297680" y="4709160"/>
            <a:ext cx="3611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6E5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4297680" y="5303520"/>
            <a:ext cx="3611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consecutive live cycles, valid JSON, real cited numbers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046720" y="4709160"/>
            <a:ext cx="3611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6E5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8046720" y="5303520"/>
            <a:ext cx="3611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QoD session created and released against the clean device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1136873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F6E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MODEL &amp; MONETIZATION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62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Operators already hold the data — they don't hold the judgement layer</a:t>
            </a:r>
            <a:endParaRPr lang="en-US" sz="23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7315200" cy="4709160"/>
        </p:xfrm>
        <a:graphic>
          <a:graphicData uri="http://schemas.openxmlformats.org/drawingml/2006/table">
            <a:tbl>
              <a:tblPr/>
              <a:tblGrid>
                <a:gridCol w="1737360"/>
                <a:gridCol w="5577840"/>
              </a:tblGrid>
              <a:tr h="9418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Buyer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MNOs — STC, Mobily, Zain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</a:tr>
              <a:tr h="9418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Already holds the CAMARA / NaC relationship and subscriber data — SAKINA is the reasoning layer they license, not the data access they lack.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418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 customer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operator resells “crowd-safety-as-a-service” to whoever runs the gathering — Ministry of Hajj &amp; Umrah, stadium operators, event insurers.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418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Pricing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Per-pilgrim-season licence — matches how Hajj logistics contracts already work; one clear number per major gathering, not a metered API bill.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418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Why buy, not build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IP is judgement under disagreeing signals — not CAMARA access, which every NaC-subscribed operator already has.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8092440" y="1417320"/>
            <a:ext cx="3566160" cy="4709160"/>
          </a:xfrm>
          <a:prstGeom prst="rect">
            <a:avLst/>
          </a:prstGeom>
          <a:solidFill>
            <a:srgbClr val="0F1B2D"/>
          </a:solidFill>
          <a:ln/>
        </p:spPr>
      </p:sp>
      <p:sp>
        <p:nvSpPr>
          <p:cNvPr id="6" name="Text 3"/>
          <p:cNvSpPr/>
          <p:nvPr/>
        </p:nvSpPr>
        <p:spPr>
          <a:xfrm>
            <a:off x="8321040" y="160020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TAM beyond Hajj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8321040" y="205740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EDEF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Umrah — year-round, not one season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321040" y="251460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EDEF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Stadiums &amp; major venues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8321040" y="297180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EDEF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Expo-scale events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8321040" y="342900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EDEF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Ramadan markets &amp; night gatherings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8321040" y="3977640"/>
            <a:ext cx="2880360" cy="0"/>
          </a:xfrm>
          <a:prstGeom prst="line">
            <a:avLst/>
          </a:prstGeom>
          <a:noFill/>
          <a:ln w="6350">
            <a:solidFill>
              <a:srgbClr val="9FB0C7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321040" y="416052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i="1" dirty="0">
                <a:solidFill>
                  <a:srgbClr val="C79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architecture, same 7 APIs — only the zone roster and device list change.</a:t>
            </a:r>
            <a:endParaRPr lang="en-US" sz="1150" dirty="0"/>
          </a:p>
        </p:txBody>
      </p:sp>
      <p:sp>
        <p:nvSpPr>
          <p:cNvPr id="13" name="Text 10"/>
          <p:cNvSpPr/>
          <p:nvPr/>
        </p:nvSpPr>
        <p:spPr>
          <a:xfrm>
            <a:off x="1136873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F6E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 &amp; ALIGNMENT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62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Built against the rubric judges actually score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11109960" cy="868680"/>
          </a:xfrm>
          <a:prstGeom prst="rect">
            <a:avLst/>
          </a:prstGeom>
          <a:solidFill>
            <a:srgbClr val="EEF1F4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1527048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0F6E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Innovation &amp; Originality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206240" y="1527048"/>
            <a:ext cx="7223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Confidence-weighted trend reasoning over CAMARA data — not a threshold engine wearing an LLM as decoration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2377440"/>
            <a:ext cx="11109960" cy="868680"/>
          </a:xfrm>
          <a:prstGeom prst="rect">
            <a:avLst/>
          </a:prstGeom>
          <a:solidFill>
            <a:srgbClr val="EEF1F4"/>
          </a:solidFill>
          <a:ln/>
        </p:spPr>
      </p:sp>
      <p:sp>
        <p:nvSpPr>
          <p:cNvPr id="8" name="Text 6"/>
          <p:cNvSpPr/>
          <p:nvPr/>
        </p:nvSpPr>
        <p:spPr>
          <a:xfrm>
            <a:off x="777240" y="2487168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0F6E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206240" y="2487168"/>
            <a:ext cx="7223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Directly targets the failure mode of the 2015 Mina crush: invisible density, degraded responder connectivity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48640" y="3337560"/>
            <a:ext cx="11109960" cy="868680"/>
          </a:xfrm>
          <a:prstGeom prst="rect">
            <a:avLst/>
          </a:prstGeom>
          <a:solidFill>
            <a:srgbClr val="EEF1F4"/>
          </a:solidFill>
          <a:ln/>
        </p:spPr>
      </p:sp>
      <p:sp>
        <p:nvSpPr>
          <p:cNvPr id="11" name="Text 9"/>
          <p:cNvSpPr/>
          <p:nvPr/>
        </p:nvSpPr>
        <p:spPr>
          <a:xfrm>
            <a:off x="777240" y="3447288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0F6E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AI &amp; Multi-API Orchestration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206240" y="3447288"/>
            <a:ext cx="7223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CAMARA API families live-verified in one LangGraph state machine; conditional edges chosen by the agent, not the operator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48640" y="4297680"/>
            <a:ext cx="11109960" cy="868680"/>
          </a:xfrm>
          <a:prstGeom prst="rect">
            <a:avLst/>
          </a:prstGeom>
          <a:solidFill>
            <a:srgbClr val="EEF1F4"/>
          </a:solidFill>
          <a:ln/>
        </p:spPr>
      </p:sp>
      <p:sp>
        <p:nvSpPr>
          <p:cNvPr id="14" name="Text 12"/>
          <p:cNvSpPr/>
          <p:nvPr/>
        </p:nvSpPr>
        <p:spPr>
          <a:xfrm>
            <a:off x="777240" y="4407408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0F6E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 Feasibility &amp; API Usage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206240" y="4407408"/>
            <a:ext cx="7223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Nokia NaC calls, live QoD session created and released, 21 passing tests, replay mode needs zero credentials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48640" y="5257800"/>
            <a:ext cx="11109960" cy="868680"/>
          </a:xfrm>
          <a:prstGeom prst="rect">
            <a:avLst/>
          </a:prstGeom>
          <a:solidFill>
            <a:srgbClr val="EEF1F4"/>
          </a:solidFill>
          <a:ln/>
        </p:spPr>
      </p:sp>
      <p:sp>
        <p:nvSpPr>
          <p:cNvPr id="17" name="Text 15"/>
          <p:cNvSpPr/>
          <p:nvPr/>
        </p:nvSpPr>
        <p:spPr>
          <a:xfrm>
            <a:off x="777240" y="5367528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0F6E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Scalability &amp; Commercial Viability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206240" y="5367528"/>
            <a:ext cx="7223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Operator-licensed model with a clear TAM beyond Hajj — Umrah, stadiums, Expo, Ramadan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1136873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F1B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188720"/>
            <a:ext cx="10332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polished agent, seven verified APIs, one operator watching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868680" y="2331720"/>
            <a:ext cx="2926080" cy="0"/>
          </a:xfrm>
          <a:prstGeom prst="line">
            <a:avLst/>
          </a:prstGeom>
          <a:noFill/>
          <a:ln w="19050">
            <a:solidFill>
              <a:srgbClr val="C7922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68680" y="26517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9FB0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868680" y="292608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FC9B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SAKINA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868680" y="33832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DEF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MhmoodHmmam — solo builder: agent design, CAMARA integration, full stack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868680" y="374904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0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mhmood.hmmam@gmail.com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68680" y="44348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9FB0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868680" y="47091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DEF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Prototype hardening through Sep 8 · live demo + submission by Sep 12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868680" y="612648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C79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GSMA MENA IGNITE HACKATHON · THEME 3 — TOURISM, PILGRIMAGE &amp; CULTURAL EXPERIENCE INNOVATION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2026-07-17T13:15:25Z</dcterms:created>
  <dcterms:modified xsi:type="dcterms:W3CDTF">2026-07-17T13:15:25Z</dcterms:modified>
</cp:coreProperties>
</file>