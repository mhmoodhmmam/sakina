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9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  <Relationship Id="rId19" Type="http://schemas.openxmlformats.org/officeDocument/2006/relationships/slide" Target="slides/slide13.xml"/>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97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Situational Awareness for Kinetic crowd Intelligence &amp; Network Adaptation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sakīna (سَكِينَة): tranquility, stillness — the state pilgrims seek.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38912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reads live telecom network signals to detect crowd-crush risk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mass gatherings, and elevates emergency responder bandwidth — but only for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whose identity the network can vouch for.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064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 ·  THEME 3 — TOURISM, PILGRIMAGE &amp; CULTURAL EXPERIENCE INNOVATION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61722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SAKINA  ·  Mahmoud Samaha  ·  Prototype Phase submission,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 density is invisible — until it is already lethal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00400" cy="22860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C7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pilgrims killed in the 2015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 crush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 concentrates roughly </a:t>
            </a:r>
            <a:r>
              <a:rPr lang="en-US" sz="15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million people</a:t>
            </a: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few square kilometres of Mina. There is no dense sensor grid over the site, and installing one is a multi-year civil project.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0" y="3154680"/>
            <a:ext cx="7498080" cy="10058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327355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compounding failure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3584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density spikes, the cellular network degrades — at exactly the moment responders most need connectivity. Congestion is simultaneously the symptom of the danger and the obstacle to responding to it.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0" y="43434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every pilgrim already carries a handset </a:t>
            </a:r>
            <a:r>
              <a:rPr lang="en-US" sz="15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the network already knows something about all of them. That signal already exists; nobody is reading it as a safety instrument.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congestion reading is evidence — not a fact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Congestion Insights returns a confidenceLevel (0–100) with every reading. That single field is the whole project.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486400" cy="217017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Congestion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Confidence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as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substantial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13:38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Medium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near-worthless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High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51%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weak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13:48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Low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97%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20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decisive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1920240"/>
            <a:ext cx="5349240" cy="960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Text 4"/>
          <p:cNvSpPr/>
          <p:nvPr/>
        </p:nvSpPr>
        <p:spPr>
          <a:xfrm>
            <a:off x="6537960" y="20299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engine reads the latest bucket — Low — and stands down.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09360" y="3063240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is that dispersal, or did telemetry merely improve while the crowd stayed? </a:t>
            </a: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that is not expressible as an if-statement — it requires weighing a confidence trend against corroborating signals that may disagree.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109960" cy="169164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window SAKINA computes: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296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(naive mean 1.25)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7472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1.33/2.0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47472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— the cell is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settled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12648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12648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trend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(71% → 97%)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7782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78240" y="5257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on SMS-only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SMS-only contradicts the reassuring “Low” reading. SAKINA surfaces the contradiction rather than resolving it away.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NEEDS AN AGENT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evidence, three readers — verified live, not claimed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playground window from the previous slide, run through three levels of reasoning.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threshold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the latest bucket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2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“Low”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down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97% confidence on the newest reading and concludes the zone is safe. Ignores the volatile 71/16/51 readings before it and the SMS-only saturation entirely.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would stand down during data-plane saturation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0" y="1783080"/>
            <a:ext cx="3611880" cy="4434840"/>
          </a:xfrm>
          <a:prstGeom prst="rect">
            <a:avLst/>
          </a:prstGeom>
          <a:solidFill>
            <a:srgbClr val="EEF1F4"/>
          </a:solidFill>
          <a:ln w="12700">
            <a:solidFill>
              <a:srgbClr val="7A5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Heuristic arithmetic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brain.py deterministic fallback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A5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0.69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2628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mean correctly discounts the 16% reading. Gets partway there — but its own output says it plainly: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2628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threshold arithmetic only: it cannot distinguish genuine dispersal from telemetry loss.”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26280" y="5623560"/>
            <a:ext cx="3154680" cy="0"/>
          </a:xfrm>
          <a:prstGeom prst="line">
            <a:avLst/>
          </a:prstGeom>
          <a:noFill/>
          <a:ln w="6350">
            <a:solidFill>
              <a:srgbClr val="5B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A5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elevated score, zero explanation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1783080"/>
            <a:ext cx="3611880" cy="4434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965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 agent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75320" y="231343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Gemini call, same evidence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75320" y="26974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275320" y="331927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75320" y="36576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deciding signal explicitly: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5320" y="44805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“100% SMS-only fallback... confirms extreme density regardless of the congestion metric’s fluctuations.”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75320" y="5623560"/>
            <a:ext cx="315468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57150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correctly refuses to be reassured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CAMARA APIs, orchestrated by an agent — not a user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SAKINA treats mobile network congestion as a real-time proxy for crowd density, reasons about how much to trust each reading, and autonomously elevates emergency responder bandwidth when risk is material — but only for responders whose identity the network itself can vouch for.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6949440" cy="411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CAMARA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Congestion Insights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density proxy — confidence-weighted trend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Grounds congestion in geography; fix-quality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Verification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this responder actually where they claim?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SMS-only fallback corroborates density; roaming for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Swap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gate — a recent swap blocks elevation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on 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action: elevate verified responders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Geofencing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Zone-entry event model (subscription API,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7726680" y="2148840"/>
            <a:ext cx="3931920" cy="4114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2331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API earns its place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955280" y="27432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is decorative — each maps to a specific node in the agent's reasoning graph, verified live against the Nokia Network-as-Code portal.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55280" y="3657600"/>
            <a:ext cx="324612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3886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915400" y="39593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 exercised live — six inside the cycle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4572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915400" y="46451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— CI on every push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55280" y="5257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915400" y="533095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required in replay mode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DESIGN &amp; ORCHESTRATION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LangGraph StateGraph — the conditional edges are the product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signals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146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8" name="Text 6"/>
          <p:cNvSpPr/>
          <p:nvPr/>
        </p:nvSpPr>
        <p:spPr>
          <a:xfrm>
            <a:off x="25146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evidence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25780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identity-gate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elevation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966960" y="14173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0F1B2D"/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12680" y="1828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 QoD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760720" y="420624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7A5A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4297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6440" y="461772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+ next poll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14884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58000" y="1805940"/>
            <a:ext cx="36576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11480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160520" y="13030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0.55 or escalate flag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823960" y="1805940"/>
            <a:ext cx="1143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69680" y="13030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0.70 &amp; cleared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8040" y="2194560"/>
            <a:ext cx="358902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804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314700" y="2194560"/>
            <a:ext cx="2628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94360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2606040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low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37960" y="2194560"/>
            <a:ext cx="14859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537960" y="2194560"/>
            <a:ext cx="0" cy="2011680"/>
          </a:xfrm>
          <a:prstGeom prst="line">
            <a:avLst/>
          </a:prstGeom>
          <a:noFill/>
          <a:ln w="15875">
            <a:solidFill>
              <a:srgbClr val="5B6B7A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772668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button the operator presses. agent.py::_after_assess / _after_decide choose the edge at run time.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4008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8036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88036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(flash-lite)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2064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70B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6948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6092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509760" y="5715000"/>
            <a:ext cx="2148840" cy="685800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76986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601200" y="6016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Network-as-Code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from the hackathon's AI Resource &amp; Tooling Guide — no tooling outside it in the agent layer.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Graceful degradation — verified deliberately, not observed by accident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unreachable or rate-limited → Groq Llama 3.3 70B. Both unreachable → deterministic heuristic, clearly labelled inferior in the trace.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452628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fallback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 serves a recorded fixture when a live CAMARA call fails — and says so in the trace. Cached data is never disguised as live.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463040"/>
            <a:ext cx="3611880" cy="210312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459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5740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reachable means no QoD elevation. Refusing a medic is recoverable; handing an impersonator priority spectrum is not.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23317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live, 2026-07-17 — real trace output, GEMINI_API_KEY intentionally invalid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gemini unavailable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ClientError: 400 INVALID_ARGUMENT — API key not valid — trying next provider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0.40 (low confidence) · via groq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Crowd density appears to be low, but telemetry confidence is also low...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 driver: confidence-weighted mean congestion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0.40 below escalation floor 0.55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can trigger bandwidth elevation controls it — that's worth attacking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elevating any responder, SAKINA checks the network's own view of that handset: SIM Swap, roaming status, Location Verification. Refusing a real medic also costs lives — so this is judgement, not a rule. Roaming alone means nothing; Hajj is the largest roaming event on earth. Three coherent signals mean something.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3749040"/>
          </a:xfrm>
          <a:prstGeom prst="rect">
            <a:avLst/>
          </a:prstGeom>
          <a:solidFill>
            <a:srgbClr val="2A151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1 — Alpha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 swapped 12 minutes ago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Roaming on a foreign network (HU)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FALSE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Reachable, SMS-only — no data session to prioritise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CEB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— plausible impersonation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2331720"/>
            <a:ext cx="5349240" cy="3749040"/>
          </a:xfrm>
          <a:prstGeom prst="rect">
            <a:avLst/>
          </a:prstGeom>
          <a:solidFill>
            <a:srgbClr val="12271D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 Unit 2 — Bravo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926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+99999991001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832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SIM swap on record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37673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roaming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415137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Location verification: TRUE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37960" y="45354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Data-capable — QoD session created live, session released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solidFill>
            <a:srgbClr val="1E8A55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53035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— QoD elevated live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CLAIMED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Nokia NaC + live Gemini, five consecutive real cycles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phase: operator console live at sakina.streamlit.app · narrated demo video · 53 tests · CI on every push · replay mode with zero credentials.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27432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run_cycle.py jamarat-bridge — SAKINA_MODE=live, real trace output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10515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PERCEIVE — congestion_insights.query · location.retrieve · device_status.reachability  [LIVE]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Signals gathered — 3 CAMARA calls · congestion weighted mean 0.52 (naive 0.80)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ASSESS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🧠 Risk 0.35 (high confidence) · via gemini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Congestion readings trended toward high confidence (99%) at 12:27, confirming the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 volatility was a telemetry issue rather than a crowd surge. 0% SMS-only,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 stale fixes — the network is operating normally.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◆ Continue monitoring — risk 0.35 below escalation floor 0.55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REPORT — 3 CAMARA calls (3 live, 0 cached) across 3 APIs · next poll in 60s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 verified live — congestion, location, location verify, device status, SIM swap, QoD, geofencing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9768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29768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live cycles, valid JSON, real cited numbers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0" y="4709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530352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QoD session created and released against the clean device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&amp; MONETIZATION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 already hold the data — they don't hold the judgement layer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MNOs — STC, Mobily, Zain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holds the CAMARA / NaC relationship and subscriber data — SAKINA is the reasoning layer they license, not the data access they lack.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customer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operator resells “crowd-safety-as-a-service” to whoever runs the gathering — Ministry of Hajj &amp; Umrah, stadium operators, event insurers.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Per-pilgrim-season licence — matches how Hajj logistics contracts already work; one clear number per major gathering, not a metered API bill.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buy, not build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IP is judgement under disagreeing signals — not CAMARA access, which every NaC-subscribed operator already has.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83210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beyond Hajj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Umrah — year-round, not one season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Stadiums &amp; major venues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210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Expo-scale events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Ramadan markets &amp; night gatherings</a:t>
            </a:r>
            <a:endParaRPr lang="en-US" sz="1200" dirty="0"/>
          </a:p>
        </p:txBody>
      </p:sp>
      <p:sp>
        <p:nvSpPr>
          <p:cNvPr id="4" name="Shape 8"/>
          <p:cNvSpPr/>
          <p:nvPr/>
        </p:nvSpPr>
        <p:spPr>
          <a:xfrm>
            <a:off x="83210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210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architecture, same 7 APIs — only the zone roster and device list change.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against the rubric judges actually score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270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Originality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5270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trend reasoning over CAMARA data — not a threshold engine wearing an LLM as decoration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871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4871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targets the failure mode of the 2015 Mina crush: invisible density, degraded responder connectivity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472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Multi-API Orchestration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344728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CAMARA APIs, six orchestrated in one LangGraph state machine; the conditional edges are chosen by the agent, not the 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07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 &amp; API Usage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44074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Streamlit Cloud, live Nokia NaC calls, live QoD session created and released, 53 passing tests with CI, replay mode needs zero credentials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109960" cy="86868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Commercial Viability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536752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Operator-licensed model with a clear TAM beyond Hajj — Umrah, stadiums, Expo, Ramadan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polished agent, seven verified APIs, one operator watching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68680" y="2331720"/>
            <a:ext cx="2926080" cy="0"/>
          </a:xfrm>
          <a:prstGeom prst="line">
            <a:avLst/>
          </a:prstGeom>
          <a:noFill/>
          <a:ln w="19050">
            <a:solidFill>
              <a:srgbClr val="C792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C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SAKINA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Mahmoud Samaha — solo builder: agent design, CAMARA integration, full stack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mhmud.smaha@gmail.com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sakina.streamlit.app · github.com/MhmoodHmmam/sakina · narrated demo video with the submission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GSMA MENA IGNITE HACKATHON · THEME 3 — TOURISM, PILGRIMAGE &amp; CULTURAL EXPERIENCE INNOVATION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known ground — one step further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4709160"/>
        </p:xfrm>
        <a:graphic>
          <a:graphicData uri="http://schemas.openxmlformats.org/drawingml/2006/table">
            <a:tbl>
              <a:tblPr/>
              <a:tblGrid>
                <a:gridCol w="30723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Exists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SAKINA adds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network as a crowd sensor — signalling-data research (PLOS ONE 2024); population-density APIs at Paris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 the loop: sense, judge, act — no operator trigger and no new hardware; every pilgrim already carries the sensor.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raise QoD when congestion rises — Nokia × Summit Tech at MWC26, for an 8K stream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Weighs the evidence: every reading carries its confidence; the agent asks whether a falling reading is dispersal or blindness, and decides when that doubt is worth more API calls.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1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SIM-swap check gating a payment — Orange's banking agent, July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spectrum, not money: SIM swap, roaming and location verification decide who gets priority bandwidth. No model, no elevation — it fails closed.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66160" cy="470916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83210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control room gains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057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Earlier warning — no new hardware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false comfort from a confident-looking “Low”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2104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Priority bandwidth an impersonator cannot obtain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action explains itself — provenance on every call</a:t>
            </a:r>
            <a:endParaRPr lang="en-US" sz="1200" dirty="0"/>
          </a:p>
        </p:txBody>
      </p:sp>
      <p:sp>
        <p:nvSpPr>
          <p:cNvPr id="4" name="Shape 8"/>
          <p:cNvSpPr/>
          <p:nvPr/>
        </p:nvSpPr>
        <p:spPr>
          <a:xfrm>
            <a:off x="8321040" y="3977640"/>
            <a:ext cx="2880360" cy="0"/>
          </a:xfrm>
          <a:prstGeom prst="line">
            <a:avLst/>
          </a:prstGeom>
          <a:noFill/>
          <a:ln w="6350">
            <a:solidFill>
              <a:srgbClr val="9FB0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21040" y="4160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C7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Lemaire et al., PLOS ONE 2024 · Orange Flux Vision, Paris 2024 · Nokia × Summit Tech, MWC26 · Orange Developer, Jul 2026 · KFUPM US 12,417,639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1760</Words>
  <Application>Microsoft Office PowerPoint</Application>
  <PresentationFormat>Widescreen</PresentationFormat>
  <Paragraphs>247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Mhmoud Smaha</cp:lastModifiedBy>
  <cp:revision>2</cp:revision>
  <dcterms:created xsi:type="dcterms:W3CDTF">2026-07-17T13:15:25Z</dcterms:created>
  <dcterms:modified xsi:type="dcterms:W3CDTF">2026-07-19T13:23:54Z</dcterms:modified>
</cp:coreProperties>
</file>