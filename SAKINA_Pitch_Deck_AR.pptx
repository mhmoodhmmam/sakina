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1992" y="19202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SAKINA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719072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F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الوعي الظرفي بحركية الحشود وتكيّف الشبكة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19072" y="3520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سكينة: الطمأنينة والسكون — الحالة التي يسعى إليها الحجاج.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394192" y="4160520"/>
            <a:ext cx="2926080" cy="0"/>
          </a:xfrm>
          <a:prstGeom prst="line">
            <a:avLst/>
          </a:prstGeom>
          <a:noFill/>
          <a:ln w="19050">
            <a:solidFill>
              <a:srgbClr val="C79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19072" y="438912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وكيل ذكاء اصطناعي يقرأ إشارات شبكة الاتصالات الحية لرصد مخاطر تدافع الحشود في التجمعات الجماهيرية، ويرفع أولوية اتصال المستجيبين للطوارئ — لكن فقط لمن تستطيع الشبكة تأكيد هويتهم.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19072" y="58064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C7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هاكاثون GSMA MENA IGNITE · الموضوع 3 — السياحة والحج والابتكار الثقافي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19072" y="6172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سكينة · محمود سماحة · تقديم مرحلة الفكرة، 20 أغسطس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5112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كثافة الحشود غير مرئية — حتى تصبح مميتة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39912" y="1737360"/>
            <a:ext cx="3200400" cy="22860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8439912" y="1965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7922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+2,000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668512" y="2971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حاج قُتلوا في تدافع منى 2015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يجمع الحج نحو مليوني شخص في مساحة لا تتجاوز بضعة كيلومترات مربعة في منى. لا توجد شبكة استشعار كثيفة فوق الموقع، وتركيب واحدة مشروع مدني يستغرق سنوات.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7498080" cy="100584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7355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الفشل المركّب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5844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عندما ترتفع الكثافة، تتدهور شبكة الجوّال — في اللحظة التي يحتاج فيها المستجيبون إلى الاتصال أكثر من أي وقت. الازدحام هو في آن واحد عرَض الخطر وعائق الاستجابة له.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3434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لكن كل حاج يحمل بالفعل هاتفًا — والشبكة تعرف بالفعل شيئًا عن جميعهم. هذه الإشارة موجودة أصلاً؛ لا أحد يقرأها كأداة سلامة.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5112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 الجوهرية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قراءة الازدحام دليل — وليست حقيقة مطلقة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تُرجع واجهة Congestion Insights من CAMARA مستوى ثقة (0-100) مع كل قراءة. هذا الحقل هو جوهر المشروع بأكمله.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2" y="1920240"/>
          <a:ext cx="5486400" cy="210312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28016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يُقرأ كـ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الثقة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الازدحام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الوقت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معتبرة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71%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عالٍ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13:33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شبه عديمة القيمة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متوسط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13:38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ضعيفة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51%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عالٍ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13:43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حاسمة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97%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منخفض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13:48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1920240"/>
            <a:ext cx="5349240" cy="96012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299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العتبات يقرأ آخر قراءة فقط — منخفض — ويتوقف عن التنبه.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لكن هل هذا تفرّق فعلي للحشود، أم أن القياس عن بُعد تحسّن فقط بينما بقي الحشد؟ الإجابة تتطلب موازنة اتجاه الثقة مقابل إشارات مساندة قد تتعارض — لا يمكن التعبير عنها بجملة شرطية.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206240"/>
            <a:ext cx="11109960" cy="16916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النافذة الزمنية تحسب سكينة: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4663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C9B0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100%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22960" y="5257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الأجهزة على وضع الرسائل</a:t>
            </a:r>
            <a:endParaRPr lang="en-US" sz="1150" dirty="0"/>
          </a:p>
          <a:p>
            <a:pPr rtl="1"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القصيرة فقط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474720" y="4663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C9B0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في تحسّن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474720" y="5257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اتجاه الثقة</a:t>
            </a:r>
            <a:endParaRPr lang="en-US" sz="1150" dirty="0"/>
          </a:p>
          <a:p>
            <a:pPr rtl="1"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(71% ← 97%)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126480" y="4663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C9B0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1.33/2.0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126480" y="5257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التقلب — الخلية</a:t>
            </a:r>
            <a:endParaRPr lang="en-US" sz="1150" dirty="0"/>
          </a:p>
          <a:p>
            <a:pPr rtl="1"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غير مستقرة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778240" y="4663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C9B0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1.11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778240" y="5257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المتوسط المرجَّح بالثقة</a:t>
            </a:r>
            <a:endParaRPr lang="en-US" sz="1150" dirty="0"/>
          </a:p>
          <a:p>
            <a:pPr rtl="1"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(المتوسط البسيط 1.25)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22960" y="57607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i="1" dirty="0">
                <a:solidFill>
                  <a:srgbClr val="C7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100% من الأجهزة على الرسائل القصيرة فقط تناقض القراءة المطمئنة “منخفض”. سكينة تُظهر التناقض بدلاً من حلّه بعيدًا.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657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5112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يحتاج هذا إلى وكيل ذكي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نفس الأدلة، ثلاثة قرّاء — تم التحقق منها حيًّا لا مجرد ادّعاء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نافذة اختبار المنصة من الشريحة السابقة، عبر ثلاثة مستويات من الاستدلال.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4434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وكيل سكينة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134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i="1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مكالمة Gemini حية، نفس الأدلة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6E56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0.95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33192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ثقة عالية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يسمّي الإشارة الحاسمة صراحةً: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4805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2F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“...100% من الأجهزة على الرسائل القصيرة فقط تؤكد تشبعًا شديدًا للكثافة بغض النظر عن تقلبات مقياس الازدحام.”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5623560"/>
            <a:ext cx="3154680" cy="0"/>
          </a:xfrm>
          <a:prstGeom prst="line">
            <a:avLst/>
          </a:prstGeom>
          <a:noFill/>
          <a:ln w="6350">
            <a:solidFill>
              <a:srgbClr val="9FB0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715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F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صحيح — يرفض بحق أن يُطمأن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1783080"/>
            <a:ext cx="3611880" cy="4434840"/>
          </a:xfrm>
          <a:prstGeom prst="rect">
            <a:avLst/>
          </a:prstGeom>
          <a:solidFill>
            <a:srgbClr val="EEF1F4"/>
          </a:solidFill>
          <a:ln w="12700">
            <a:solidFill>
              <a:srgbClr val="7A5A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حساب استدلالي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23134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احتياطي brain.py الحتمي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26280" y="2697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7A5A1C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0.69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26280" y="33192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درجة الخطورة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26280" y="3657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يخصم بشكل صحيح القراءة 16%. يصل جزئيًا — لكن مخرجاته نفسها تقول ذلك بوضوح: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44805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7A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“هذا مجرد حساب حدّي: لا يمكنه التمييز بين التفرّق الحقيقي وفقدان القياس عن بُعد.”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5623560"/>
            <a:ext cx="3154680" cy="0"/>
          </a:xfrm>
          <a:prstGeom prst="line">
            <a:avLst/>
          </a:prstGeom>
          <a:noFill/>
          <a:ln w="6350">
            <a:solidFill>
              <a:srgbClr val="5B6B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5715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A5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جزئي — درجة مرتفعة، بلا تفسير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1783080"/>
            <a:ext cx="3611880" cy="4434840"/>
          </a:xfrm>
          <a:prstGeom prst="rect">
            <a:avLst/>
          </a:prstGeom>
          <a:solidFill>
            <a:srgbClr val="EEF1F4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عتبة ساذجة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75320" y="23134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تقرأ آخر قراءة فقط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75320" y="2697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B23A2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“منخفض”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275320" y="33192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التوقف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75320" y="3657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ترى ثقة 97% في آخر قراءة وتستنتج أن المنطقة آمنة. تتجاهل القراءات المتقلبة قبلها وتشبّع الرسائل القصيرة تمامًا.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75320" y="5623560"/>
            <a:ext cx="3154680" cy="0"/>
          </a:xfrm>
          <a:prstGeom prst="line">
            <a:avLst/>
          </a:prstGeom>
          <a:noFill/>
          <a:ln w="6350">
            <a:solidFill>
              <a:srgbClr val="5B6B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5715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خطأ — كانت ستتوقف أثناء التشبّع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5112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 المقترح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6202B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سبع واجهات CAMARA، ينسّقها وكيل — لا مستخدم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سكينة وكيل يعامل ازدحام شبكة الجوّال كمقياس بديل فوري لكثافة الحشود، ويستدل على مدى الثقة بكل قراءة، ويرفع تلقائيًا أولوية اتصال مستجيبي الطوارئ عند وجود خطر جوهري — لكن فقط لمن تستطيع الشبكة نفسها تأكيد هويته.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90872" y="2148840"/>
          <a:ext cx="6949440" cy="4114800"/>
        </p:xfrm>
        <a:graphic>
          <a:graphicData uri="http://schemas.openxmlformats.org/drawingml/2006/table">
            <a:tbl>
              <a:tblPr/>
              <a:tblGrid>
                <a:gridCol w="4572000"/>
                <a:gridCol w="2377440"/>
              </a:tblGrid>
              <a:tr h="51435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دورها في الوكيل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واجهة CAMARA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المقياس البديل الأساسي للكثافة — اتجاه مرجَّح بالثقة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رؤى الازدحام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يؤسس الازدحام جغرافيًا؛ إشارة جودة التموضع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استرجاع الموقع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هل هذا المستجيب فعلاً حيث يدّعي؟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التحقق من الموقع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وضع الرسائل القصيرة يدعم الكثافة؛ التجوال للهوية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حالة الجهاز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بوابة الهوية — تبديل حديث يمنع الرفع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تبديل شريحة SIM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الإجراء: رفع أولوية المستجيبين المتحقق منهم فقط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جودة الخدمة عند الطلب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نموذج أحداث دخول المنطقة (اشتراك، المرحلة 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السياج الجغرافي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148840"/>
            <a:ext cx="3931920" cy="41148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كل واجهة تستحق مكانها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شيء زخرفي — كل واجهة ترتبط بعقدة محددة في مخطط استدلال الوكيل، تم التحقق منها حيًّا مقابل منصة Nokia Network-as-Code.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3657600"/>
            <a:ext cx="3246120" cy="0"/>
          </a:xfrm>
          <a:prstGeom prst="line">
            <a:avLst/>
          </a:prstGeom>
          <a:noFill/>
          <a:ln w="6350">
            <a:solidFill>
              <a:srgbClr val="9FB0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46120" y="3886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C9B0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5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85800" y="39593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عائلات واجهات استُخدمت حيًّا من البداية للنهاية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46120" y="4572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C9B0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21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85800" y="46451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اختبارًا على نواة الترجيح بالثقة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46120" y="5257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C9B0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0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85800" y="53309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مفاتيح مطلوبة في وضع إعادة التشغيل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5112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الوكيل الذكي والتنسيق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6202B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مخطط حالة LangGraph — الحواف الشرطية هي المنتج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921240" y="14173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992124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الإدراك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66960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جمع الإشارات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909560" y="14173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F1B2D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0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وزن الأدلة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74920" y="14173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F1B2D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الهوية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63240" y="14173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F1B2D"/>
          </a:solidFill>
          <a:ln/>
        </p:spPr>
      </p:sp>
      <p:sp>
        <p:nvSpPr>
          <p:cNvPr id="14" name="Text 12"/>
          <p:cNvSpPr/>
          <p:nvPr/>
        </p:nvSpPr>
        <p:spPr>
          <a:xfrm>
            <a:off x="306324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الرفع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14173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F1B2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التنفيذ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1828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QoD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420624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7A5A1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4297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التقرير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17720" y="4617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السجل + الاستطلاع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601200" y="1805940"/>
            <a:ext cx="320040" cy="0"/>
          </a:xfrm>
          <a:prstGeom prst="line">
            <a:avLst/>
          </a:prstGeom>
          <a:noFill/>
          <a:ln w="1587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54880" y="1805940"/>
            <a:ext cx="320040" cy="0"/>
          </a:xfrm>
          <a:prstGeom prst="line">
            <a:avLst/>
          </a:prstGeom>
          <a:noFill/>
          <a:ln w="1587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766560" y="1805940"/>
            <a:ext cx="1143000" cy="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069080" y="13030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i="1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الخطورة ≥ 0.55 أو علم التصعيد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40280" y="1805940"/>
            <a:ext cx="822960" cy="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-365760" y="13030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i="1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الخطورة ≥ 0.70 والموافقة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94460" y="2194560"/>
            <a:ext cx="3360420" cy="0"/>
          </a:xfrm>
          <a:prstGeom prst="line">
            <a:avLst/>
          </a:prstGeom>
          <a:noFill/>
          <a:ln w="15875">
            <a:solidFill>
              <a:srgbClr val="5B6B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194560"/>
            <a:ext cx="0" cy="2011680"/>
          </a:xfrm>
          <a:prstGeom prst="line">
            <a:avLst/>
          </a:prstGeom>
          <a:noFill/>
          <a:ln w="1587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80760" y="2194560"/>
            <a:ext cx="2674620" cy="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80760" y="2194560"/>
            <a:ext cx="0" cy="201168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00100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i="1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خطورة منخفضة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09060" y="2194560"/>
            <a:ext cx="1485900" cy="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394960" y="2194560"/>
            <a:ext cx="0" cy="201168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356616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i="1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توقف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شيء هنا زر يضغطه المشغّل. الدالتان _after_assess و _after_decide في agent.py تختاران المسار وقت التشغيل.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715000"/>
            <a:ext cx="2148840" cy="685800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7698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" y="6016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Nokia Network-as-Code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88920" y="5715000"/>
            <a:ext cx="2148840" cy="685800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80360" y="57698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880360" y="6016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29200" y="5715000"/>
            <a:ext cx="2148840" cy="685800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57698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الاحتياطي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120640" y="6016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Llama 3.3 70B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269480" y="5715000"/>
            <a:ext cx="2148840" cy="685800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60920" y="57698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الاستدلال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360920" y="6016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(flash-lite)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509760" y="5715000"/>
            <a:ext cx="2148840" cy="685800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0" y="57698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التنسيق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601200" y="6016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جميعها من دليل الموارد وأدوات الذكاء الاصطناعي الخاص بالهاكاثون — لا أدوات خارجه في طبقة الوكيل.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5112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الموثوقية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6202B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التدهور التدريجي — تم التحقق منه عمدًا، لا ملاحظته صدفة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10312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التوقف الآمن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عدم توفر نموذج يعني عدم رفع QoD. رفض مستجيب حقيقي أمر قابل للتصحيح؛ منح منتحل أولوية طيف ترددي ليس كذلك.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611880" cy="210312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645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احتياطي الواجهة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05740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وضع hybrid يقدّم استجابة مسجَّلة عند فشل مكالمة حية — ويُصرّح بذلك في السجل. البيانات المخزَّنة لا تُقدَّم أبدًا على أنها حية.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611880" cy="210312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645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احتياطي النموذج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205740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 تعذّر الوصول إلى Gemini أو تقييد معدله ← Groq Llama 3.3 70B. عند تعذّر كليهما ← حساب استدلالي حتمي، موصوف بوضوح بأنه أدنى.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1109960" cy="23317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77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C7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تشغيل قسري حي، 2026-07-17 — مخرجات سجل حقيقية، مفتاح Gemini غير صالح عمدًا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Gemini غير متاح</a:t>
            </a:r>
            <a:endParaRPr lang="en-US" sz="115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ClientError: 400 — المفتاح غير صالح — المحاولة مع المزوّد التالي</a:t>
            </a:r>
            <a:endParaRPr lang="en-US" sz="115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🧠 الخطورة 0.40 (ثقة منخفضة) · عبر groq</a:t>
            </a:r>
            <a:endParaRPr lang="en-US" sz="115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كثافة الحشود تبدو منخفضة، لكن ثقة القياس عن بُعد منخفضة أيضًا...</a:t>
            </a:r>
            <a:endParaRPr lang="en-US" sz="115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العامل الرئيسي: متوسط الازدحام المرجَّح بالثقة</a:t>
            </a:r>
            <a:endParaRPr lang="en-US" sz="115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الاستمرار في المراقبة — الخطورة 0.40 أقل من حد التصعيد 0.55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5112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الأمان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6202B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من يستطيع تفعيل رفع النطاق الترددي يتحكم به — وهذا يستحق الاستهداف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رفع أي مستجيب، تتحقق سكينة من رؤية الشبكة نفسها لذلك الجهاز: تبديل شريحة SIM، حالة التجوال، التحقق من الموقع. رفض طبيب طوارئ حقيقي يكلّف أرواحًا أيضًا — فهذا حكم، لا قاعدة. التجوال وحده لا يعني شيئًا؛ الحج أكبر حدث تجوال على وجه الأرض.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63640" y="2331720"/>
            <a:ext cx="5349240" cy="3749040"/>
          </a:xfrm>
          <a:prstGeom prst="rect">
            <a:avLst/>
          </a:prstGeom>
          <a:solidFill>
            <a:srgbClr val="2A1513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2560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وحدة الطبيب 1 — ألفا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37960" y="2926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+99999991000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0" y="33832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تم تبديل شريحة SIM قبل 12 دقيقة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37960" y="37673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تجوال على شبكة أجنبية (HU)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37960" y="415137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التحقق من الموقع: خطأ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45354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رسائل قصيرة فقط — لا جلسة بيانات لترقيتها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37960" y="5303520"/>
            <a:ext cx="4800600" cy="548640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5303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CE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مرفوض — انتحال محتمل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5349240" cy="3749040"/>
          </a:xfrm>
          <a:prstGeom prst="rect">
            <a:avLst/>
          </a:prstGeom>
          <a:solidFill>
            <a:srgbClr val="12271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560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وحدة الطبيب 2 — برافو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2926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+99999991001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3832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لا يوجد تبديل شريحة مسجَّل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7673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غير متجوّل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15137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التحقق من الموقع: صحيح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45354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قادر على البيانات — تم إنشاء جلسة QoD حيًّا وتحريرها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5303520"/>
            <a:ext cx="4800600" cy="548640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303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EAF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مقبول — تم رفع QoD حيًّا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5112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 التحقق منه، لا مجرد ادّعاء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6202B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شبكة Nokia NaC حيّة + Gemini حي، خمس دورات حقيقية متتالية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مُخرَج مرحلة الفكرة هو الاستدلال، لا واجهة مستخدم مصقولة — وحدة التحكم الكاملة والفيديو التوضيحي يصلان في نموذج المرحلة 2 (تقديم سبتمبر).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109960" cy="2743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C7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run_cycle.py jamarat-bridge — SAKINA_MODE=live، مخرجات سجل حقيقية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15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الإدراك — رؤى الازدحام · استرجاع الموقع · حالة الجهاز  [حي]</a:t>
            </a:r>
            <a:endParaRPr lang="en-US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🧠 تم جمع الإشارات — 3 طلبات CAMARA · متوسط الازدحام المرجَّح 0.52 (المتوسط البسيط 0.80)</a:t>
            </a:r>
            <a:endParaRPr lang="en-US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التقييم</a:t>
            </a:r>
            <a:endParaRPr lang="en-US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🧠 الخطورة 0.35 (ثقة عالية) · عبر gemini</a:t>
            </a:r>
            <a:endParaRPr lang="en-US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اتجهت قراءات الازدحام نحو ثقة عالية (99%) عند 12:27، مما يؤكد أن التقلب</a:t>
            </a:r>
            <a:endParaRPr lang="en-US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السابق كان مشكلة قياس عن بُعد لا موجة حشود حقيقية. 0% رسائل قصيرة فقط،</a:t>
            </a:r>
            <a:endParaRPr lang="en-US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لا مواقع قديمة — الشبكة تعمل بشكل طبيعي.</a:t>
            </a:r>
            <a:endParaRPr lang="en-US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الاستمرار في المراقبة — الخطورة 0.35 أقل من حد التصعيد 0.55</a:t>
            </a:r>
            <a:endParaRPr lang="en-US" sz="11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التقرير — 3 طلبات CAMARA (3 حي، 0 مخزَّن) عبر 3 واجهات · الاستطلاع التالي خلال 60 ثانية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53035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جلسة QoD حقيقية أُنشئت وحُرِّرت مقابل الجهاز النظيف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47091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97680" y="53035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دورات حية متتالية، JSON صالح، أرقام مستشهد بها حقيقية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47091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5/5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046720" y="53035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واجهات استخدمها الوكيل تم التحقق منها حيًّا (الازدحام، الموقع، حالة الجهاز، تبديل الشريحة، QoD)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5112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العمل والتسويق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6202B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المشغّلون يملكون البيانات بالفعل — لا يملكون طبقة الحكم</a:t>
            </a:r>
            <a:endParaRPr lang="en-US" sz="2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25112" y="1417320"/>
          <a:ext cx="7315200" cy="4709160"/>
        </p:xfrm>
        <a:graphic>
          <a:graphicData uri="http://schemas.openxmlformats.org/drawingml/2006/table">
            <a:tbl>
              <a:tblPr/>
              <a:tblGrid>
                <a:gridCol w="5577840"/>
                <a:gridCol w="1737360"/>
              </a:tblGrid>
              <a:tr h="9418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مشغّلو الاتصالات — STC، موبايلي، زين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المشتري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يملكون بالفعل علاقة CAMARA/NaC وبيانات المشتركين — سكينة طبقة الاستدلال التي يرخّصونها لا يبنونها.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السبب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يعيد المشغّل بيع “سلامة الحشود كخدمة” لمن يدير التجمع — وزارة الحج والعمرة، مشغّلو الملاعب، شركات التأمين.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العميل النهائي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ترخيص لكل موسم حج — رقم واحد واضح لكل تجمع كبير، لا فاتورة واجهة مقيسة.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التسعير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الملكية الفكرية المميّزة هي الحكم تحت إشارات متعارضة — لا الوصول إلى CAMARA، المتاح لأي مشغّل مشترك في NaC.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لماذا الشراء لا البناء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417320"/>
            <a:ext cx="3566160" cy="47091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السوق المحتمل بعد الحج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العمرة — على مدار العام، لا موسم واحد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الملاعب والمنشآت الكبرى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فعاليات بحجم إكسبو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429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أسواق وتجمعات رمضان الليلية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3977640"/>
            <a:ext cx="2880360" cy="0"/>
          </a:xfrm>
          <a:prstGeom prst="line">
            <a:avLst/>
          </a:prstGeom>
          <a:noFill/>
          <a:ln w="6350">
            <a:solidFill>
              <a:srgbClr val="9FB0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4160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7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البنية، نفس السبع واجهات — فقط قائمة المناطق والأجهزة تتغيّر.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657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5112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 والتوافق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6202B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مبني وفق المعايير التي يقيّم عليها المحكّمون فعليًا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86868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5" name="Text 3"/>
          <p:cNvSpPr/>
          <p:nvPr/>
        </p:nvSpPr>
        <p:spPr>
          <a:xfrm>
            <a:off x="8138160" y="15270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الابتكار والأصالة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52704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استدلال مرجَّح بالثقة عبر بيانات CAMARA — لا محرك عتبات يرتدي نموذج ذكاء كزينة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1109960" cy="86868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24871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48716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يستهدف مباشرة نمط فشل تدافع منى 2015: كثافة غير مرئية، اتصال مستجيبين متدهور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109960" cy="86868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34472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الوكيلي وتنسيق الواجهات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44728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عائلات واجهات CAMARA تم التحقق منها حيًّا في آلة حالة LangGraph واحدة؛ الحواف الشرطية يختارها الوكيل لا المشغّل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109960" cy="86868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44074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الجدوى التقنية واستخدام الواجهات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40740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مكالمات Nokia NaC حية، جلسة QoD حقيقية أُنشئت وحُرِّرت، 21 اختبارًا ناجحًا، وضع إعادة التشغيل لا يحتاج مفاتيح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109960" cy="86868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53675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قابلية التوسع والجدوى التجارية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36752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مرخّص عبر المشغّلين مع سوق محتمل واضح بعد الحج — العمرة، الملاعب، إكسبو، رمضان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188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وكيل واحد مصقول، سبع واجهات تم التحقق منها، مشغّل واحد يراقب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394192" y="2331720"/>
            <a:ext cx="2926080" cy="0"/>
          </a:xfrm>
          <a:prstGeom prst="line">
            <a:avLst/>
          </a:prstGeom>
          <a:noFill/>
          <a:ln w="19050">
            <a:solidFill>
              <a:srgbClr val="C792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الفريق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76656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FC9B0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سكينة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02336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سماحة — بانٍ منفرد: تصميم الوكيل، تكامل CAMARA، البنية الكاملة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mhmud.smaha@gmail.com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التالي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D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تقوية النموذج الأولي حتى 8 سبتمبر · عرض حي وتقديم بحلول 12 سبتمبر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16152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C7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هاكاثون GSMA MENA IGNITE · الموضوع 3 — السياحة والحج والابتكار الثقافي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2026-07-17T14:03:25Z</dcterms:created>
  <dcterms:modified xsi:type="dcterms:W3CDTF">2026-07-17T14:03:25Z</dcterms:modified>
</cp:coreProperties>
</file>